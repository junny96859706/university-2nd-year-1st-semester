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24384000" cy="13716000"/>
  <p:notesSz cx="6858000" cy="9144000"/>
  <p:embeddedFontLst>
    <p:embeddedFont>
      <p:font typeface="Pretendard Bold"/>
      <p:bold r:id="rId16"/>
    </p:embeddedFont>
    <p:embeddedFont>
      <p:font typeface="Pretendard Regular"/>
      <p:regular r:id="rId17"/>
    </p:embeddedFont>
    <p:embeddedFont>
      <p:font typeface="Pretendard Medium"/>
      <p:bold r:id="rId18"/>
    </p:embeddedFont>
    <p:embeddedFont>
      <p:font typeface="Pretendard SemiBold"/>
      <p:bold r:id="rId19"/>
    </p:embeddedFont>
    <p:embeddedFont>
      <p:font typeface="Pretendard ExtraBold"/>
      <p:bold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.fntdata" Type="http://schemas.openxmlformats.org/officeDocument/2006/relationships/font"/><Relationship Id="rId17" Target="fonts/font2.fntdata" Type="http://schemas.openxmlformats.org/officeDocument/2006/relationships/font"/><Relationship Id="rId18" Target="fonts/font3.fntdata" Type="http://schemas.openxmlformats.org/officeDocument/2006/relationships/font"/><Relationship Id="rId19" Target="fonts/font4.fntdata" Type="http://schemas.openxmlformats.org/officeDocument/2006/relationships/font"/><Relationship Id="rId2" Target="presProps.xml" Type="http://schemas.openxmlformats.org/officeDocument/2006/relationships/presProps"/><Relationship Id="rId20" Target="fonts/font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F1F1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785600" y="7226300"/>
            <a:ext cx="812800" cy="8128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4851400" y="3619500"/>
            <a:ext cx="14668500" cy="2184400"/>
          </a:xfrm>
          <a:prstGeom prst="rect">
            <a:avLst/>
          </a:prstGeom>
        </p:spPr>
        <p:txBody>
          <a:bodyPr anchor="ctr" rtlCol="false" lIns="0" tIns="155783" rIns="0" bIns="155783"/>
          <a:lstStyle/>
          <a:p>
            <a:pPr algn="ctr" lvl="0">
              <a:lnSpc>
                <a:spcPct val="99600"/>
              </a:lnSpc>
            </a:pPr>
            <a:r>
              <a:rPr lang="en-US" sz="12266" b="false" i="false" u="none" strike="noStrike" cap="all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HANOI RUSH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42200" y="2908300"/>
            <a:ext cx="9486900" cy="7112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ctr" lvl="0">
              <a:lnSpc>
                <a:spcPct val="99600"/>
              </a:lnSpc>
            </a:pPr>
            <a:r>
              <a:rPr lang="en-US" sz="3999" b="false" i="false" u="none" strike="noStrike" cap="all">
                <a:solidFill>
                  <a:srgbClr val="F65B20"/>
                </a:solidFill>
                <a:latin typeface="Pretendard Bold"/>
                <a:ea typeface="Pretendard Bold"/>
                <a:cs typeface="Pretendard Bold"/>
              </a:rPr>
              <a:t>프로그래밍랩 게임개발 최종 프로젝트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23400" y="6045200"/>
            <a:ext cx="55245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2371214 이지형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84800" y="9042400"/>
            <a:ext cx="13792200" cy="7493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4208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C-Language Based Windows Console Tactical Deep Dive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86300" y="6743700"/>
            <a:ext cx="7048500" cy="38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49200" y="6743700"/>
            <a:ext cx="7048500" cy="38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86300" y="8839200"/>
            <a:ext cx="7048500" cy="38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49200" y="8839200"/>
            <a:ext cx="7048500" cy="3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4686300" y="10947400"/>
            <a:ext cx="7048500" cy="38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649200" y="10947400"/>
            <a:ext cx="7048500" cy="381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4686300" y="7124700"/>
            <a:ext cx="13716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353300" y="7124700"/>
            <a:ext cx="43815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전체 아키텍처 흐름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49200" y="7124700"/>
            <a:ext cx="13716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303500" y="7124700"/>
            <a:ext cx="43815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가속 제어 알고리즘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86300" y="9220200"/>
            <a:ext cx="13716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324600" y="9220200"/>
            <a:ext cx="53975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오토바이 무한 이동 및 예외처리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49200" y="9220200"/>
            <a:ext cx="13716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303500" y="9220200"/>
            <a:ext cx="43942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화면 깜박임 원천 차단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86300" y="11328400"/>
            <a:ext cx="13716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05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64300" y="11328400"/>
            <a:ext cx="52705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WINDOWS API활용 화면진동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649200" y="11328400"/>
            <a:ext cx="13716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06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5303500" y="11328400"/>
            <a:ext cx="43815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독립형 타임어택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159500" y="304800"/>
            <a:ext cx="12077700" cy="608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17100" y="5168900"/>
            <a:ext cx="4749800" cy="4749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4292600" y="7213600"/>
            <a:ext cx="3911600" cy="3911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6179800" y="4292600"/>
            <a:ext cx="3911600" cy="3911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832600" y="4191000"/>
            <a:ext cx="2641600" cy="26416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521700" y="10033000"/>
            <a:ext cx="2641600" cy="26416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833600" y="8458200"/>
            <a:ext cx="2641600" cy="2641600"/>
          </a:xfrm>
          <a:prstGeom prst="rect">
            <a:avLst/>
          </a:prstGeom>
        </p:spPr>
      </p:pic>
      <p:sp>
        <p:nvSpPr>
          <p:cNvPr name="TextBox 14" id="14"/>
          <p:cNvSpPr txBox="true"/>
          <p:nvPr/>
        </p:nvSpPr>
        <p:spPr>
          <a:xfrm rot="0">
            <a:off x="8051800" y="1587500"/>
            <a:ext cx="82804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 cap="all">
                <a:solidFill>
                  <a:srgbClr val="F65B20"/>
                </a:solidFill>
                <a:latin typeface="Pretendard ExtraBold"/>
                <a:ea typeface="Pretendard ExtraBold"/>
                <a:cs typeface="Pretendard ExtraBold"/>
              </a:rPr>
              <a:t>상반기를 휩쓴 키워드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88300" y="2832100"/>
            <a:ext cx="84074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키워드에 관한 설명을 간략하게 작성해주세요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91800" y="7213600"/>
            <a:ext cx="3213100" cy="660400"/>
          </a:xfrm>
          <a:prstGeom prst="rect">
            <a:avLst/>
          </a:prstGeom>
        </p:spPr>
        <p:txBody>
          <a:bodyPr anchor="t" rtlCol="false" lIns="0" tIns="47412" rIns="0" bIns="0"/>
          <a:lstStyle/>
          <a:p>
            <a:pPr algn="ctr" lvl="0">
              <a:lnSpc>
                <a:spcPct val="99600"/>
              </a:lnSpc>
            </a:pPr>
            <a:r>
              <a:rPr lang="en-US" sz="3733" b="false" i="false" u="none" strike="noStrike" cap="all">
                <a:solidFill>
                  <a:srgbClr val="131313"/>
                </a:solidFill>
                <a:latin typeface="Pretendard Bold"/>
                <a:ea typeface="Pretendard Bold"/>
                <a:cs typeface="Pretendard Bold"/>
              </a:rPr>
              <a:t>#메인키워드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648200" y="8851900"/>
            <a:ext cx="32004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ctr" lvl="0">
              <a:lnSpc>
                <a:spcPct val="99600"/>
              </a:lnSpc>
            </a:pPr>
            <a:r>
              <a:rPr lang="en-US" sz="3466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#서브키워드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6535400" y="5930900"/>
            <a:ext cx="32004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ctr" lvl="0">
              <a:lnSpc>
                <a:spcPct val="99600"/>
              </a:lnSpc>
            </a:pPr>
            <a:r>
              <a:rPr lang="en-US" sz="3466" b="false" i="false" u="none" strike="noStrike" cap="all">
                <a:solidFill>
                  <a:srgbClr val="F65B20"/>
                </a:solidFill>
                <a:latin typeface="Pretendard SemiBold"/>
                <a:ea typeface="Pretendard SemiBold"/>
                <a:cs typeface="Pretendard SemiBold"/>
              </a:rPr>
              <a:t>#서브키워드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13600" y="52324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902700" y="110744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214600" y="94996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08300" y="59690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919200" y="43180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9570700" y="84328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484100" y="11328400"/>
            <a:ext cx="1879600" cy="520700"/>
          </a:xfrm>
          <a:prstGeom prst="rect">
            <a:avLst/>
          </a:prstGeom>
        </p:spPr>
        <p:txBody>
          <a:bodyPr anchor="t" rtlCol="false" lIns="0" tIns="37252" rIns="0" bIns="0"/>
          <a:lstStyle/>
          <a:p>
            <a:pPr algn="ctr" lvl="0">
              <a:lnSpc>
                <a:spcPct val="99600"/>
              </a:lnSpc>
            </a:pPr>
            <a:r>
              <a:rPr lang="en-US" sz="2933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#키워드</a:t>
            </a:r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52500" y="1282700"/>
            <a:ext cx="22186900" cy="1184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51800" y="1587500"/>
            <a:ext cx="82804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 cap="all">
                <a:solidFill>
                  <a:srgbClr val="F65B20"/>
                </a:solidFill>
                <a:latin typeface="Pretendard ExtraBold"/>
                <a:ea typeface="Pretendard ExtraBold"/>
                <a:cs typeface="Pretendard ExtraBold"/>
              </a:rPr>
              <a:t>전체 아키텍처 흐름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70500" y="2755900"/>
            <a:ext cx="138303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회피-&gt;주문-&gt;균형으로 이어지는 삼단계 유기적 복합 서사 구조를 구현하였습니다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08100" y="4953000"/>
            <a:ext cx="22313900" cy="551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51800" y="1587500"/>
            <a:ext cx="82804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 cap="all">
                <a:solidFill>
                  <a:srgbClr val="F65B20"/>
                </a:solidFill>
                <a:latin typeface="Pretendard ExtraBold"/>
                <a:ea typeface="Pretendard ExtraBold"/>
                <a:cs typeface="Pretendard ExtraBold"/>
              </a:rPr>
              <a:t>가속제어 알고리즘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88300" y="2832100"/>
            <a:ext cx="84074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UPdatedifficulty() 변동식설계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8800" y="9639300"/>
            <a:ext cx="5499100" cy="7112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ctr" lvl="0">
              <a:lnSpc>
                <a:spcPct val="99600"/>
              </a:lnSpc>
            </a:pPr>
            <a:r>
              <a:rPr lang="en-US" sz="3999" b="false" i="false" u="none" strike="noStrike" cap="all">
                <a:solidFill>
                  <a:srgbClr val="F65B20"/>
                </a:solidFill>
                <a:latin typeface="Pretendard Bold"/>
                <a:ea typeface="Pretendard Bold"/>
                <a:cs typeface="Pretendard Bold"/>
              </a:rPr>
              <a:t>라운드별 속도 메커니즘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404100" y="10629900"/>
            <a:ext cx="9575800" cy="1485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24499"/>
              </a:lnSpc>
            </a:pPr>
            <a:r>
              <a:rPr lang="en-US" sz="2666" b="false" i="false" u="none" strike="noStrike" cap="all">
                <a:solidFill>
                  <a:srgbClr val="FFFFFF"/>
                </a:solidFill>
                <a:latin typeface="Pretendard Medium"/>
                <a:ea typeface="Pretendard Medium"/>
                <a:cs typeface="Pretendard Medium"/>
              </a:rPr>
              <a:t>게임의 긴장감을 극대화하기 위해 고정 주기를 배제하고, 플레이어가
라운드를 클리어할 때마다 난이도 가중치 인수를   반영하
는 동적 가속 메커니즘을 이식.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3187700" y="4711700"/>
            <a:ext cx="17995900" cy="3771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543800" y="1562100"/>
            <a:ext cx="93091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 cap="all">
                <a:solidFill>
                  <a:srgbClr val="F65B20"/>
                </a:solidFill>
                <a:latin typeface="Pretendard ExtraBold"/>
                <a:ea typeface="Pretendard ExtraBold"/>
                <a:cs typeface="Pretendard ExtraBold"/>
              </a:rPr>
              <a:t>오토바이 무한 이동 및 예외처리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78100" y="4279900"/>
            <a:ext cx="4483100" cy="660400"/>
          </a:xfrm>
          <a:prstGeom prst="rect">
            <a:avLst/>
          </a:prstGeom>
        </p:spPr>
        <p:txBody>
          <a:bodyPr anchor="t" rtlCol="false" lIns="0" tIns="47412" rIns="0" bIns="0"/>
          <a:lstStyle/>
          <a:p>
            <a:pPr algn="l" lvl="0">
              <a:lnSpc>
                <a:spcPct val="99600"/>
              </a:lnSpc>
            </a:pPr>
            <a:r>
              <a:rPr lang="en-US" sz="3733" b="false" i="false" u="none" strike="noStrike" cap="all">
                <a:solidFill>
                  <a:srgbClr val="F65B20"/>
                </a:solidFill>
                <a:latin typeface="Pretendard Bold"/>
                <a:ea typeface="Pretendard Bold"/>
                <a:cs typeface="Pretendard Bold"/>
              </a:rPr>
              <a:t>핵심로직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5201900" y="4965700"/>
            <a:ext cx="7061200" cy="4800600"/>
          </a:xfrm>
          <a:prstGeom prst="rect">
            <a:avLst/>
          </a:prstGeom>
        </p:spPr>
        <p:txBody>
          <a:bodyPr anchor="t" rtlCol="false" lIns="0" tIns="33866" rIns="0" bIns="0"/>
          <a:lstStyle/>
          <a:p>
            <a:pPr algn="l" lvl="0">
              <a:lnSpc>
                <a:spcPct val="99600"/>
              </a:lnSpc>
            </a:pPr>
            <a:r>
              <a:rPr lang="en-US" sz="3096" b="false" i="false" u="none" strike="noStrike" cap="all">
                <a:solidFill>
                  <a:srgbClr val="C2C2C2"/>
                </a:solidFill>
                <a:latin typeface="Pretendard Medium"/>
                <a:ea typeface="Pretendard Medium"/>
                <a:cs typeface="Pretendard Medium"/>
              </a:rPr>
              <a:t>프레임마다 각 오토바이 고유의 속도만큼 좌표를 누적 연산하는 이동 엔진</a:t>
            </a:r>
          </a:p>
          <a:p>
            <a:pPr algn="l" lvl="0">
              <a:lnSpc>
                <a:spcPct val="99600"/>
              </a:lnSpc>
            </a:pPr>
            <a:r>
              <a:rPr lang="en-US" sz="3096" b="false" i="false" u="none" strike="noStrike" cap="all">
                <a:solidFill>
                  <a:srgbClr val="C2C2C2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-US" sz="3096" b="false" i="false" u="none" strike="noStrike" cap="all">
                <a:solidFill>
                  <a:srgbClr val="C2C2C2"/>
                </a:solidFill>
                <a:latin typeface="Pretendard Medium"/>
                <a:ea typeface="Pretendard Medium"/>
                <a:cs typeface="Pretendard Medium"/>
              </a:rPr>
              <a:t>벽예외처리는 오토바이 문자열 문자푹등이 화면 우측 벽을 뚫고 맵을 깨뜨리는것을 방지하기 위한 임계값 사용</a:t>
            </a:r>
          </a:p>
          <a:p>
            <a:pPr algn="l" lvl="0">
              <a:lnSpc>
                <a:spcPct val="99600"/>
              </a:lnSpc>
            </a:pPr>
            <a:r>
              <a:rPr lang="en-US" sz="3096" b="false" i="false" u="none" strike="noStrike" cap="all">
                <a:solidFill>
                  <a:srgbClr val="C2C2C2"/>
                </a:solidFill>
                <a:latin typeface="Pretendard Medium"/>
                <a:ea typeface="Pretendard Medium"/>
                <a:cs typeface="Pretendard Medium"/>
              </a:rPr>
              <a:t/>
            </a:r>
          </a:p>
          <a:p>
            <a:pPr algn="l" lvl="0">
              <a:lnSpc>
                <a:spcPct val="99600"/>
              </a:lnSpc>
            </a:pPr>
            <a:r>
              <a:rPr lang="en-US" sz="3096" b="false" i="false" u="none" strike="noStrike" cap="all">
                <a:solidFill>
                  <a:srgbClr val="C2C2C2"/>
                </a:solidFill>
                <a:latin typeface="Pretendard Medium"/>
                <a:ea typeface="Pretendard Medium"/>
                <a:cs typeface="Pretendard Medium"/>
              </a:rPr>
              <a:t>오토바이 객체를 소멸시키고 새로 만드는 과정없이 좌표를 다시 1로 강제회귀하여 고정된 배열 안에서 무한히 순환하는 구조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52500" y="4279900"/>
            <a:ext cx="132588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8051800" y="1587500"/>
            <a:ext cx="82804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 cap="all">
                <a:solidFill>
                  <a:srgbClr val="F65B20"/>
                </a:solidFill>
                <a:latin typeface="Pretendard ExtraBold"/>
                <a:ea typeface="Pretendard ExtraBold"/>
                <a:cs typeface="Pretendard ExtraBold"/>
              </a:rPr>
              <a:t>화면 깜빡임 원천 차단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88300" y="2832100"/>
            <a:ext cx="84074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system("cls") vs gotoxy()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28700" y="3581400"/>
            <a:ext cx="7226300" cy="711200"/>
          </a:xfrm>
          <a:prstGeom prst="rect">
            <a:avLst/>
          </a:prstGeom>
        </p:spPr>
        <p:txBody>
          <a:bodyPr anchor="t" rtlCol="false" lIns="0" tIns="50799" rIns="0" bIns="0"/>
          <a:lstStyle/>
          <a:p>
            <a:pPr algn="l" lvl="0">
              <a:lnSpc>
                <a:spcPct val="99600"/>
              </a:lnSpc>
            </a:pPr>
            <a:r>
              <a:rPr lang="en-US" sz="3999" b="false" i="false" u="none" strike="noStrike" cap="all">
                <a:solidFill>
                  <a:srgbClr val="F65B20"/>
                </a:solidFill>
                <a:latin typeface="Pretendard Bold"/>
                <a:ea typeface="Pretendard Bold"/>
                <a:cs typeface="Pretendard Bold"/>
              </a:rPr>
              <a:t>Who? 인플루언서 신미리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28700" y="4699000"/>
            <a:ext cx="8382000" cy="3962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53550"/>
              </a:lnSpc>
            </a:pPr>
            <a:r>
              <a:rPr lang="en-US" sz="2933" b="false" i="false" u="none" strike="noStrike" cap="all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문제점: 매 프레임 system("cls") 호출 시 콘솔 버퍼 전체를 지우고 새로 그리면서 발생하는  화면 깜빡임.
해결책: gotoxy 함수를 통한 오버라이트 렌더링. 화면 전체를 지우지 않고 커서 좌표만 원점(0,0)으로 이동시켜 기존 텍스트 위에 덧칠하는 방식.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574800" y="3581400"/>
            <a:ext cx="10617200" cy="2374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574800" y="6324600"/>
            <a:ext cx="10617200" cy="651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7404100" y="1562100"/>
            <a:ext cx="9575800" cy="990600"/>
          </a:xfrm>
          <a:prstGeom prst="rect">
            <a:avLst/>
          </a:prstGeom>
        </p:spPr>
        <p:txBody>
          <a:bodyPr anchor="t" rtlCol="false" lIns="0" tIns="71118" rIns="0" bIns="0"/>
          <a:lstStyle/>
          <a:p>
            <a:pPr algn="ctr" lvl="0">
              <a:lnSpc>
                <a:spcPct val="99600"/>
              </a:lnSpc>
            </a:pPr>
            <a:r>
              <a:rPr lang="en-US" sz="5599" b="false" i="false" u="none" strike="noStrike" cap="all">
                <a:solidFill>
                  <a:srgbClr val="F65B20"/>
                </a:solidFill>
                <a:latin typeface="Pretendard ExtraBold"/>
                <a:ea typeface="Pretendard ExtraBold"/>
                <a:cs typeface="Pretendard ExtraBold"/>
              </a:rPr>
              <a:t>windows api활용 화면 진동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88300" y="2832100"/>
            <a:ext cx="8407400" cy="5715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ctr" lvl="0">
              <a:lnSpc>
                <a:spcPct val="99600"/>
              </a:lnSpc>
            </a:pPr>
            <a:r>
              <a:rPr lang="en-US" sz="3199" b="false" i="false" u="none" strike="noStrike" cap="all">
                <a:solidFill>
                  <a:srgbClr val="787878"/>
                </a:solidFill>
                <a:latin typeface="Pretendard Medium"/>
                <a:ea typeface="Pretendard Medium"/>
                <a:cs typeface="Pretendard Medium"/>
              </a:rPr>
              <a:t>키워드에 관한 설명을 간략하게 작성해주세요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779000" y="10998200"/>
            <a:ext cx="11074400" cy="1054100"/>
          </a:xfrm>
          <a:prstGeom prst="rect">
            <a:avLst/>
          </a:prstGeom>
        </p:spPr>
        <p:txBody>
          <a:bodyPr anchor="t" rtlCol="false" lIns="0" tIns="40639" rIns="0" bIns="0"/>
          <a:lstStyle/>
          <a:p>
            <a:pPr algn="l" lvl="0">
              <a:lnSpc>
                <a:spcPct val="99600"/>
              </a:lnSpc>
            </a:pPr>
            <a:r>
              <a:rPr lang="en-US" sz="3199" b="false" i="false" u="none" strike="noStrike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충돌 캐릭터가 장애물과 부딪혔을 때 단순 텍스트 메시지만 출력하는 기존 방식을 탈피, 게임 창 자체가 흔들리는 물리적 충격 효과 구현.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778500" y="10998200"/>
            <a:ext cx="3708400" cy="622300"/>
          </a:xfrm>
          <a:prstGeom prst="rect">
            <a:avLst/>
          </a:prstGeom>
        </p:spPr>
        <p:txBody>
          <a:bodyPr anchor="t" rtlCol="false" lIns="0" tIns="44026" rIns="0" bIns="0"/>
          <a:lstStyle/>
          <a:p>
            <a:pPr algn="l" lvl="0">
              <a:lnSpc>
                <a:spcPct val="99600"/>
              </a:lnSpc>
            </a:pPr>
            <a:r>
              <a:rPr lang="en-US" sz="3466" b="false" i="false" u="none" strike="noStrike" cap="all">
                <a:solidFill>
                  <a:srgbClr val="F65B20"/>
                </a:solidFill>
                <a:latin typeface="Pretendard Bold"/>
                <a:ea typeface="Pretendard Bold"/>
                <a:cs typeface="Pretendard Bold"/>
              </a:rPr>
              <a:t>물리적 충돌효과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143000" y="4279900"/>
            <a:ext cx="10998200" cy="51562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3030200" y="4279900"/>
            <a:ext cx="10096500" cy="5156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1F1F1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635000"/>
            <a:ext cx="381000" cy="635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774700"/>
            <a:ext cx="381000" cy="63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62000" y="914400"/>
            <a:ext cx="381000" cy="635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27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18900000">
            <a:off x="23279100" y="774700"/>
            <a:ext cx="381000" cy="63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46200" y="1117600"/>
            <a:ext cx="21704300" cy="11747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 xmlns:r="http://schemas.openxmlformats.org/officeDocument/2006/relationships">
      <p:bgPr>
        <a:solidFill>
          <a:srgbClr val="FFFFFF"/>
        </a:solidFill>
      </p:bgPr>
    </p:bg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